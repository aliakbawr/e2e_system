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2"/>
  </p:notesMasterIdLst>
  <p:handoutMasterIdLst>
    <p:handoutMasterId r:id="rId33"/>
  </p:handout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22"/>
    <p:sldId id="266" r:id="rId21"/>
    <p:sldId id="267" r:id="rId20"/>
    <p:sldId id="268" r:id="rId19"/>
    <p:sldId id="269" r:id="rId18"/>
    <p:sldId id="270" r:id="rId17"/>
    <p:sldId id="271" r:id="rId16"/>
    <p:sldId id="272" r:id="rId15"/>
    <p:sldId id="273" r:id="rId14"/>
    <p:sldId id="274" r:id="rId13"/>
    <p:sldId id="275" r:id="rId12"/>
    <p:sldId id="276" r:id="rId11"/>
    <p:sldId id="277" r:id="rId10"/>
    <p:sldId id="278" r:id="rId9"/>
    <p:sldId id="279" r:id="rId8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34"/>
    </p:embeddedFont>
    <p:embeddedFont>
      <p:font typeface="B Mitra" panose="00000400000000000000" pitchFamily="2" charset="-78"/>
      <p:regular r:id="rId35"/>
    </p:embeddedFont>
    <p:embeddedFont>
      <p:font typeface="Bebas Neue" panose="020B0606020202050201" pitchFamily="34" charset="0"/>
      <p:regular r:id="rId36"/>
    </p:embeddedFont>
    <p:embeddedFont>
      <p:font typeface="Cambria Math" panose="02040503050406030204" pitchFamily="18" charset="0"/>
      <p:regular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Martel Sans" panose="020B0604020202020204" charset="0"/>
      <p:regular r:id="rId42"/>
      <p:bold r:id="rId43"/>
    </p:embeddedFont>
    <p:embeddedFont>
      <p:font typeface="PT Sans" panose="020B0503020203020204" pitchFamily="34" charset="0"/>
      <p:regular r:id="rId44"/>
      <p:bold r:id="rId45"/>
      <p:italic r:id="rId46"/>
      <p:boldItalic r:id="rId47"/>
    </p:embeddedFont>
    <p:embeddedFont>
      <p:font typeface="Vazirmatn ExtraBold" pitchFamily="2" charset="-78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24CE78-D04A-4658-9AFD-9BA7E12B0CE5}">
  <a:tblStyle styleId="{BC24CE78-D04A-4658-9AFD-9BA7E12B0C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241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8.xml"/><Relationship Id="rId15" Type="http://schemas.openxmlformats.org/officeDocument/2006/relationships/slide" Target="slides/slide17.xml"/><Relationship Id="rId16" Type="http://schemas.openxmlformats.org/officeDocument/2006/relationships/slide" Target="slides/slide16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font" Target="fonts/font9.fntdata"/><Relationship Id="rId43" Type="http://schemas.openxmlformats.org/officeDocument/2006/relationships/font" Target="fonts/font10.fntdata"/><Relationship Id="rId44" Type="http://schemas.openxmlformats.org/officeDocument/2006/relationships/font" Target="fonts/font11.fntdata"/><Relationship Id="rId45" Type="http://schemas.openxmlformats.org/officeDocument/2006/relationships/font" Target="fonts/font12.fntdata"/><Relationship Id="rId46" Type="http://schemas.openxmlformats.org/officeDocument/2006/relationships/font" Target="fonts/font13.fntdata"/><Relationship Id="rId47" Type="http://schemas.openxmlformats.org/officeDocument/2006/relationships/font" Target="fonts/font14.fntdata"/><Relationship Id="rId48" Type="http://schemas.openxmlformats.org/officeDocument/2006/relationships/font" Target="fonts/font15.fnt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49BAA6-3562-4BC9-B65B-F7F5418384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B6ACC-5D71-1DFB-F747-4DB44878EC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F9762-8CDB-4DEF-A727-7006519E3D4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09930-EE89-E677-6D7E-57CAC88125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F34A6-FEF1-2E18-3A84-3A0F40ED36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18FB2-97C8-4721-B9D7-151800C8F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58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موضوع پروژه طراحی و ارزیابی یک دستیار صوتی فارسی محلی است. تمرکز ارائه بر انتخاب مدل‌ها، انتشار خطا و تصمیم‌های مهندسی خط لوله خواهد بود.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924125" y="-1469350"/>
            <a:ext cx="3345844" cy="4413309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10;p2"/>
          <p:cNvCxnSpPr/>
          <p:nvPr/>
        </p:nvCxnSpPr>
        <p:spPr>
          <a:xfrm>
            <a:off x="7125" y="4784263"/>
            <a:ext cx="770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717500" y="3447350"/>
            <a:ext cx="57090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912CBC-B96A-D4C9-7118-214FD2A0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EF519-13FD-5AC8-EF5C-885DC7617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BF301-7BDF-44C6-8CB1-2421F1447B8F}" type="slidenum">
              <a:rPr lang="fa-IR" smtClean="0"/>
              <a:pPr/>
              <a:t>‹#›</a:t>
            </a:fld>
            <a:r>
              <a:rPr lang="fa-IR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91525" y="1875350"/>
            <a:ext cx="5117400" cy="17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7027375" y="745825"/>
            <a:ext cx="1403400" cy="108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789425" y="3902850"/>
            <a:ext cx="5121600" cy="5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FDB98-6630-6EC1-5A6A-CDD799913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BF301-7BDF-44C6-8CB1-2421F1447B8F}" type="slidenum">
              <a:rPr lang="fa-IR" smtClean="0"/>
              <a:pPr/>
              <a:t>‹#›</a:t>
            </a:fld>
            <a:r>
              <a:rPr lang="fa-IR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E15F07-CC03-17A3-11AE-717AE2B3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DF9AE-52E8-D859-4159-97CF813CD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BF301-7BDF-44C6-8CB1-2421F1447B8F}" type="slidenum">
              <a:rPr lang="fa-IR" smtClean="0"/>
              <a:pPr/>
              <a:t>‹#›</a:t>
            </a:fld>
            <a:r>
              <a:rPr lang="fa-IR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3"/>
          <p:cNvCxnSpPr/>
          <p:nvPr/>
        </p:nvCxnSpPr>
        <p:spPr>
          <a:xfrm>
            <a:off x="7050" y="48183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3"/>
          <p:cNvSpPr/>
          <p:nvPr/>
        </p:nvSpPr>
        <p:spPr>
          <a:xfrm rot="5400000">
            <a:off x="8694783" y="4895198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789425" y="3280250"/>
            <a:ext cx="23055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"/>
          </p:nvPr>
        </p:nvSpPr>
        <p:spPr>
          <a:xfrm>
            <a:off x="3419250" y="3280250"/>
            <a:ext cx="23055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hasCustomPrompt="1"/>
          </p:nvPr>
        </p:nvSpPr>
        <p:spPr>
          <a:xfrm>
            <a:off x="1491575" y="1785025"/>
            <a:ext cx="901200" cy="61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3" hasCustomPrompt="1"/>
          </p:nvPr>
        </p:nvSpPr>
        <p:spPr>
          <a:xfrm>
            <a:off x="4121400" y="1785025"/>
            <a:ext cx="901200" cy="61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"/>
          </p:nvPr>
        </p:nvSpPr>
        <p:spPr>
          <a:xfrm>
            <a:off x="6049075" y="3280250"/>
            <a:ext cx="23055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5" hasCustomPrompt="1"/>
          </p:nvPr>
        </p:nvSpPr>
        <p:spPr>
          <a:xfrm>
            <a:off x="6751225" y="1785025"/>
            <a:ext cx="901200" cy="61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6"/>
          </p:nvPr>
        </p:nvSpPr>
        <p:spPr>
          <a:xfrm>
            <a:off x="789425" y="2401825"/>
            <a:ext cx="23055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7"/>
          </p:nvPr>
        </p:nvSpPr>
        <p:spPr>
          <a:xfrm>
            <a:off x="3419250" y="2401825"/>
            <a:ext cx="23055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8"/>
          </p:nvPr>
        </p:nvSpPr>
        <p:spPr>
          <a:xfrm>
            <a:off x="6049075" y="2401825"/>
            <a:ext cx="23055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9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3D094-2BD3-A5CF-CF85-286B58F0B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BF301-7BDF-44C6-8CB1-2421F1447B8F}" type="slidenum">
              <a:rPr lang="fa-IR" smtClean="0"/>
              <a:pPr/>
              <a:t>‹#›</a:t>
            </a:fld>
            <a:r>
              <a:rPr lang="fa-IR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userDrawn="1">
  <p:cSld name="CUSTOM_7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Google Shape;231;p28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105AE-CBA1-B973-C972-696BCE1FD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BF301-7BDF-44C6-8CB1-2421F1447B8F}" type="slidenum">
              <a:rPr lang="fa-IR" smtClean="0"/>
              <a:pPr/>
              <a:t>‹#›</a:t>
            </a:fld>
            <a:r>
              <a:rPr lang="fa-IR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9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655A1-84DA-320C-337C-A01B01DAB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BF301-7BDF-44C6-8CB1-2421F1447B8F}" type="slidenum">
              <a:rPr lang="fa-IR" smtClean="0"/>
              <a:pPr/>
              <a:t>‹#›</a:t>
            </a:fld>
            <a:r>
              <a:rPr lang="fa-IR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ave 4">
            <a:extLst>
              <a:ext uri="{FF2B5EF4-FFF2-40B4-BE49-F238E27FC236}">
                <a16:creationId xmlns:a16="http://schemas.microsoft.com/office/drawing/2014/main" id="{F3F00F10-F2A6-5401-4950-D840675973D5}"/>
              </a:ext>
            </a:extLst>
          </p:cNvPr>
          <p:cNvSpPr/>
          <p:nvPr userDrawn="1"/>
        </p:nvSpPr>
        <p:spPr>
          <a:xfrm rot="18900000">
            <a:off x="-502920" y="-411480"/>
            <a:ext cx="1828800" cy="1828800"/>
          </a:xfrm>
          <a:prstGeom prst="wave">
            <a:avLst>
              <a:gd name="adj1" fmla="val 9078"/>
              <a:gd name="adj2" fmla="val 0"/>
            </a:avLst>
          </a:prstGeom>
          <a:solidFill>
            <a:srgbClr val="19364B"/>
          </a:solidFill>
          <a:ln w="31750">
            <a:solidFill>
              <a:srgbClr val="279C9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221000"/>
            <a:ext cx="7717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8D2DBB-CDDD-EB44-0C5D-A7BB85DF63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28" y="66635"/>
            <a:ext cx="744352" cy="690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900BDA-B6F7-BF39-A36E-6F8B4551E95F}"/>
              </a:ext>
            </a:extLst>
          </p:cNvPr>
          <p:cNvSpPr/>
          <p:nvPr userDrawn="1"/>
        </p:nvSpPr>
        <p:spPr>
          <a:xfrm>
            <a:off x="-97712" y="756792"/>
            <a:ext cx="1340431" cy="57708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75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دانشگاه اصفهان</a:t>
            </a:r>
          </a:p>
          <a:p>
            <a:pPr algn="ctr" rtl="1">
              <a:spcAft>
                <a:spcPts val="0"/>
              </a:spcAft>
            </a:pPr>
            <a:r>
              <a:rPr sz="75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دانشکده مهندسی کامپیوتر</a:t>
            </a:r>
          </a:p>
          <a:p>
            <a:pPr algn="ctr" rtl="1">
              <a:spcAft>
                <a:spcPts val="0"/>
              </a:spcAft>
            </a:pPr>
            <a:r>
              <a:rPr sz="75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گروه هوش مصنوعی</a:t>
            </a:r>
          </a:p>
        </p:txBody>
      </p:sp>
      <p:sp>
        <p:nvSpPr>
          <p:cNvPr id="12" name="Google Shape;12;p2"/>
          <p:cNvSpPr/>
          <p:nvPr userDrawn="1"/>
        </p:nvSpPr>
        <p:spPr>
          <a:xfrm>
            <a:off x="-73800" y="4775100"/>
            <a:ext cx="9291550" cy="368400"/>
          </a:xfrm>
          <a:prstGeom prst="rect">
            <a:avLst/>
          </a:prstGeom>
          <a:solidFill>
            <a:srgbClr val="193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5BEBE4B-7579-F0DA-DC13-ED3B4C709E94}"/>
              </a:ext>
            </a:extLst>
          </p:cNvPr>
          <p:cNvSpPr txBox="1">
            <a:spLocks/>
          </p:cNvSpPr>
          <p:nvPr userDrawn="1"/>
        </p:nvSpPr>
        <p:spPr>
          <a:xfrm>
            <a:off x="713225" y="4809544"/>
            <a:ext cx="7405200" cy="914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B Mitra" panose="00000400000000000000" pitchFamily="2" charset="-78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1">
              <a:spcAft>
                <a:spcPts val="0"/>
              </a:spcAft>
            </a:pPr>
            <a:r>
              <a:rPr sz="650" b="0" lang="fa-IR">
                <a:solidFill>
                  <a:srgbClr val="F3F0EB"/>
                </a:solidFill>
                <a:latin typeface="Vazirmatn"/>
                <a:cs typeface="Vazirmatn"/>
              </a:rPr>
              <a:t>علی اکبر احراری  |  چت‌بات فارسی مبتنی بر یکپارچه‌سازی تشخیص گفتار، مدل زبانی بزرگ و تبدیل متن به گفتار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B0B948-DF9B-9D70-A6E1-D29605400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6526" y="4821981"/>
            <a:ext cx="75507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25000"/>
                    <a:lumOff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0CBF301-7BDF-44C6-8CB1-2421F1447B8F}" type="slidenum">
              <a:rPr lang="fa-IR" smtClean="0"/>
              <a:pPr/>
              <a:t>‹#›</a:t>
            </a:fld>
            <a:r>
              <a:rPr lang="fa-IR" dirty="0"/>
              <a:t>از۳۰</a:t>
            </a:r>
            <a:endParaRPr lang="fa-I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74" r:id="rId5"/>
    <p:sldLayoutId id="214748367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liakbawr/e2e_syste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1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5143500"/>
          </a:xfrm>
          <a:prstGeom prst="rect">
            <a:avLst/>
          </a:prstGeom>
          <a:solidFill>
            <a:srgbClr val="279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9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versi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73152"/>
            <a:ext cx="786384" cy="74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749808"/>
            <a:ext cx="5486400" cy="24688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19364B"/>
                </a:solidFill>
                <a:latin typeface="Vazirmatn ExtraBold"/>
                <a:cs typeface="Vazirmatn ExtraBold"/>
              </a:rPr>
              <a:t>دانشگاه اصفهان | دانشکده مهندسی کامپیوتر | گروه هوش مصنوعی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5303520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7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سمینار دفاع از پروژه کارشناسی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53312"/>
            <a:ext cx="6675120" cy="10515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24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چت‌بات فارسی مبتنی بر یکپارچه‌سازی تشخیص گفتار،</a:t>
            </a:r>
          </a:p>
          <a:p>
            <a:pPr algn="ctr" rtl="1">
              <a:spcAft>
                <a:spcPts val="0"/>
              </a:spcAft>
            </a:pPr>
            <a:r>
              <a:rPr sz="24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مدل زبانی بزرگ و تبدیل متن به گفتار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70048"/>
            <a:ext cx="4480560" cy="138988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50" b="0" lang="fa-IR">
                <a:solidFill>
                  <a:srgbClr val="142326"/>
                </a:solidFill>
                <a:latin typeface="Vazirmatn"/>
                <a:cs typeface="Vazirmatn"/>
              </a:rPr>
              <a:t>ارائه‌دهنده: علی اکبر احراری</a:t>
            </a:r>
          </a:p>
          <a:p>
            <a:pPr algn="ctr" rtl="1">
              <a:spcAft>
                <a:spcPts val="0"/>
              </a:spcAft>
            </a:pPr>
            <a:r>
              <a:rPr sz="1450" b="0" lang="fa-IR">
                <a:solidFill>
                  <a:srgbClr val="142326"/>
                </a:solidFill>
                <a:latin typeface="Vazirmatn"/>
                <a:cs typeface="Vazirmatn"/>
              </a:rPr>
              <a:t>استاد راهنما: دکتر حمیدرضا برادران کاشانی</a:t>
            </a:r>
          </a:p>
          <a:p>
            <a:pPr algn="ctr" rtl="1">
              <a:spcAft>
                <a:spcPts val="0"/>
              </a:spcAft>
            </a:pPr>
            <a:r>
              <a:rPr sz="1450" b="0" lang="fa-IR">
                <a:solidFill>
                  <a:srgbClr val="142326"/>
                </a:solidFill>
                <a:latin typeface="Vazirmatn"/>
                <a:cs typeface="Vazirmatn"/>
              </a:rPr>
              <a:t>داور: دکتر شفیع زادگان</a:t>
            </a:r>
          </a:p>
          <a:p>
            <a:pPr algn="ctr" rtl="1">
              <a:spcAft>
                <a:spcPts val="0"/>
              </a:spcAft>
            </a:pPr>
            <a:r>
              <a:rPr sz="1450" b="0" lang="fa-IR">
                <a:solidFill>
                  <a:srgbClr val="142326"/>
                </a:solidFill>
                <a:latin typeface="Vazirmatn"/>
                <a:cs typeface="Vazirmatn"/>
              </a:rPr>
              <a:t>شهریور ۱۴۰۵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 از ۲۴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"/>
            <a:ext cx="653796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سرفصل مطالب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60920" y="1234440"/>
            <a:ext cx="658368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9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234440"/>
            <a:ext cx="228600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مسئله و اهداف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0920" y="2194560"/>
            <a:ext cx="658368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9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معماری سامانه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3154680"/>
            <a:ext cx="658368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9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54680"/>
            <a:ext cx="228600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روش ارزیابی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234440"/>
            <a:ext cx="658368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9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234440"/>
            <a:ext cx="228600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نتایج اجزا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194560"/>
            <a:ext cx="658368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9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194560"/>
            <a:ext cx="228600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انتشار خطا و کنترل ریسک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3154680"/>
            <a:ext cx="658368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9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154680"/>
            <a:ext cx="228600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جمع‌بندی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۲ از ۲۴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مسئله پروژه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7223760" cy="5029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8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یک دستیار صوتی خوب فقط اتصال سه مدل نیست؛ کیفیت نهایی حاصل تعامل دقت، منابع و کنترل خطاست.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691640"/>
            <a:ext cx="2331720" cy="201168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9048" y="1783080"/>
            <a:ext cx="211226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دقت فارسی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8" y="2167128"/>
            <a:ext cx="2112263" cy="14447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رتبه مدل ASR با دامنه داده تغییر می‌کند و یک خطای کوچک در نام، عدد یا نفی می‌تواند معنای پرسش را عوض کند.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331720" cy="201168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783080"/>
            <a:ext cx="211226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اجرای محلی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167128"/>
            <a:ext cx="2112263" cy="14447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مدل‌ها باید هم‌زمان روی رایانه شخصی اجرا شوند؛ بنابراین حافظه، تأخیر و رقابت CPU/GPU بخشی از مسئله‌اند.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691640"/>
            <a:ext cx="2331720" cy="2011680"/>
          </a:xfrm>
          <a:prstGeom prst="roundRect">
            <a:avLst/>
          </a:prstGeom>
          <a:solidFill>
            <a:srgbClr val="F7E8BB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1783080"/>
            <a:ext cx="211226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انتشار خطا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2167128"/>
            <a:ext cx="2112263" cy="14447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WER پایین به‌تنهایی تضمین نمی‌کند اطلاعات لازم برای پاسخ مدل زبانی حفظ شده باشد.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977639"/>
            <a:ext cx="7132320" cy="438912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پرسش محوری: کدام ترکیب، بهترین رفتار انتهابه‌انتها را در محدودیت سخت‌افزار محلی فراهم می‌کند؟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۳ از ۲۴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اهداف و پرسش‌های پژوهش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06440" y="1051560"/>
            <a:ext cx="2514600" cy="96012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16168" y="1143000"/>
            <a:ext cx="22951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RQ1 — تشخیص گفتار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6168" y="1527048"/>
            <a:ext cx="2295144" cy="3931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توازن دقت، سرعت و مصرف منابع برای فارسی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051560"/>
            <a:ext cx="2240280" cy="96012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143000"/>
            <a:ext cx="202082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RQ2 — مدل زبانی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527048"/>
            <a:ext cx="2020824" cy="3931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کیفیت پاسخ فارسی در کنار امکان اجرای محلی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051560"/>
            <a:ext cx="2240280" cy="96012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143000"/>
            <a:ext cx="202082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RQ3 — تولید گفتار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527048"/>
            <a:ext cx="2020824" cy="3931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کیفیت ادراکی، بازشناسی‌پذیری و سرعت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395728"/>
            <a:ext cx="6858000" cy="1005840"/>
          </a:xfrm>
          <a:prstGeom prst="roundRect">
            <a:avLst/>
          </a:prstGeom>
          <a:solidFill>
            <a:srgbClr val="F7E8BB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2487168"/>
            <a:ext cx="66385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RQ4 — سامانه یکپارچه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2871216"/>
            <a:ext cx="6638544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خطای ASR چگونه به پاسخ LLM منتقل می‌شود و چگونه می‌توان خطر آن را کنترل کرد؟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840480"/>
            <a:ext cx="6492240" cy="457200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دامنه پروژه: ارزیابی، انتخاب و یکپارچه‌سازی مدل‌های موجود؛ نه آموزش مدل پایه از ابتدا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۴ از ۲۴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معماری یک نوبت مکالمه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58952"/>
            <a:ext cx="7223760" cy="29260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900" b="0" lang="fa-IR">
                <a:solidFill>
                  <a:srgbClr val="4B5B5E"/>
                </a:solidFill>
                <a:latin typeface="Vazirmatn"/>
                <a:cs typeface="Vazirmatn"/>
              </a:rPr>
              <a:t>مسیر اصلی داده، کنترل ریسک، حافظه نشست و ثبت معیارها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1014983"/>
            <a:ext cx="761695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711" y="1051560"/>
            <a:ext cx="6479177" cy="340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۵ از ۲۴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اجزای پیاده‌سازی‌شده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2286000" cy="118872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53328" y="1188720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6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Silero VAD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572768"/>
            <a:ext cx="2066543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تشخیص آغاز و پایان نوبت</a:t>
            </a:r>
          </a:p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۱۶ کیلوهرتز،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097280"/>
            <a:ext cx="2286000" cy="118872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188720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6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Vosk fa-0.42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572768"/>
            <a:ext cx="2066543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متن، اطمینان واژه و سه فرضیه N-best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097280"/>
            <a:ext cx="2286000" cy="1188720"/>
          </a:xfrm>
          <a:prstGeom prst="roundRect">
            <a:avLst/>
          </a:prstGeom>
          <a:solidFill>
            <a:srgbClr val="F7E8BB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188720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کنترل مکالمه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572768"/>
            <a:ext cx="2066543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answer / clarify / retry</a:t>
            </a:r>
          </a:p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حساس به نام، عدد و نفی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606039"/>
            <a:ext cx="2286000" cy="118872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2697479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6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Gemma 2 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3081527"/>
            <a:ext cx="2066543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نسخه چهاربیتی</a:t>
            </a:r>
          </a:p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تاریخچه شش‌نوبتی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606039"/>
            <a:ext cx="2286000" cy="118872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697479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6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Piper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3081527"/>
            <a:ext cx="2066543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تولید عبارت‌محور و پخش جریانی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606039"/>
            <a:ext cx="2286000" cy="118872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2697479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گزارش‌گیری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081527"/>
            <a:ext cx="2066543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lang="fa-IR">
                <a:solidFill>
                  <a:srgbClr val="142326"/>
                </a:solidFill>
                <a:latin typeface="Vazirmatn"/>
                <a:cs typeface="Vazirmatn"/>
              </a:rPr>
              <a:t>زمان نخستین توکن، عبارت و صوت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60520"/>
            <a:ext cx="667512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همه مولفه‌ها محلی و قابل جایگزینی‌اند؛ مدل زبانی فقط پس از حل ابهام فراخوانی می‌شود.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۶ از ۲۴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طرح کلی ارزیابی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97880" y="1097280"/>
            <a:ext cx="2377440" cy="192024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7608" y="1188720"/>
            <a:ext cx="215798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7608" y="1572768"/>
            <a:ext cx="2157984" cy="1353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کامن ویس نسخه ۲۵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۱۰٬۵۱۹ نمونه — ۱۴.۴۶ ساعت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FLEURS fa_ir — ۸۷۱ نمونه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97280"/>
            <a:ext cx="2240280" cy="192024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188720"/>
            <a:ext cx="202082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572768"/>
            <a:ext cx="2020824" cy="1353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ParsiNLU — ۱٬۰۵۰ پرسش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درک مطلب — ۶۰۰ پرسش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۵ مدل چهاربیتی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097280"/>
            <a:ext cx="2286000" cy="192024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188720"/>
            <a:ext cx="2066543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572768"/>
            <a:ext cx="2066543" cy="1353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نمونه تصادفی ۱۰٪ CV25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۱٬۰۵۲ متن برای هر مدل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NISQA + بازشناسی مجدد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401568"/>
            <a:ext cx="1965960" cy="393192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ارزیابی پایین‌دستی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5208" y="3913632"/>
            <a:ext cx="2237232" cy="502920"/>
          </a:xfrm>
          <a:prstGeom prst="roundRect">
            <a:avLst/>
          </a:prstGeom>
          <a:solidFill>
            <a:srgbClr val="DEEAF2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۸۷۱ صوت</a:t>
            </a:r>
          </a:p>
        </p:txBody>
      </p:sp>
      <p:sp>
        <p:nvSpPr>
          <p:cNvPr id="16" name="Chevron 15"/>
          <p:cNvSpPr/>
          <p:nvPr/>
        </p:nvSpPr>
        <p:spPr>
          <a:xfrm rot="10800000">
            <a:off x="5708904" y="4089654"/>
            <a:ext cx="137160" cy="150876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3384" y="3913632"/>
            <a:ext cx="2237232" cy="502920"/>
          </a:xfrm>
          <a:prstGeom prst="roundRect">
            <a:avLst/>
          </a:prstGeom>
          <a:solidFill>
            <a:srgbClr val="E9E4F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۷۶۹ تطبیق QA</a:t>
            </a:r>
          </a:p>
        </p:txBody>
      </p:sp>
      <p:sp>
        <p:nvSpPr>
          <p:cNvPr id="18" name="Chevron 17"/>
          <p:cNvSpPr/>
          <p:nvPr/>
        </p:nvSpPr>
        <p:spPr>
          <a:xfrm rot="10800000">
            <a:off x="3307080" y="4089654"/>
            <a:ext cx="137160" cy="150876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913632"/>
            <a:ext cx="2237232" cy="502920"/>
          </a:xfrm>
          <a:prstGeom prst="roundRect">
            <a:avLst/>
          </a:prstGeom>
          <a:solidFill>
            <a:srgbClr val="F7E8BB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۴۷۰ گروه اصلی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۷ از ۲۴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پیش‌آموزش و ریزتنظیم مدل‌های ASR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1097280"/>
          <a:ext cx="736091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2649931"/>
                <a:gridCol w="2355494"/>
              </a:tblGrid>
              <a:tr h="530352"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مدل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سازگارسازی فارسی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داده اعلام‌شده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NeMo FastConformer Hybrid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ریزتنظیم فارسی از مدل انگلیسی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Common Voice 15.0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Wav2Vec2 XLSR Persian v3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ریزتنظیم فارسی از مدل پایه XLSR با ۵۳ زبان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Common Voice 6.1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Whisper large-v3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چندزبانه؛ بدون ریزتنظیم فارسی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زیرمجموعه فارسی اعلام نشده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Vosk fa-0.42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مدل اختصاصی فارسی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05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داده آموزش اعلام نشده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1560" y="4005072"/>
            <a:ext cx="7178040" cy="438912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نکته: Common Voice و FLEURS گزارش‌شده در صفحه Vosk، مجموعه ارزیابی‌اند و نباید داده آموزش تلقی شوند.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۸ از ۲۴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نتایج ASR — Common Voice 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0" y="1005839"/>
            <a:ext cx="1143000" cy="256032"/>
          </a:xfrm>
          <a:prstGeom prst="roundRect">
            <a:avLst/>
          </a:prstGeom>
          <a:solidFill>
            <a:srgbClr val="DC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9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کمتر بهتر است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188719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NeMo FastConformer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0920" y="1216151"/>
            <a:ext cx="1367039" cy="256032"/>
          </a:xfrm>
          <a:prstGeom prst="roundRect">
            <a:avLst/>
          </a:prstGeom>
          <a:solidFill>
            <a:srgbClr val="237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2552" y="1179575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۱۲.۳۳٪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08810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Vosk fa-0.42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1101" y="1936242"/>
            <a:ext cx="2476858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2733" y="1899666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۲۲.۳۴٪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28900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Wav2Vec2 XLSR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8683" y="2656332"/>
            <a:ext cx="2899276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315" y="2619756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۲۶.۱۵٪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48990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Whisper large-v3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1233" y="3376422"/>
            <a:ext cx="4076726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2865" y="3339846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۳۶.۷۷٪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50208"/>
            <a:ext cx="20116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023360"/>
            <a:ext cx="186537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۱۲.۳۳٪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462272"/>
            <a:ext cx="186537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کمترین WER — NeMo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950208"/>
            <a:ext cx="214884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4023360"/>
            <a:ext cx="200253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۰.۰۱۵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4462272"/>
            <a:ext cx="200253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سریع‌ترین RTF — Wav2Vec2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950208"/>
            <a:ext cx="20116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4023360"/>
            <a:ext cx="186537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CPU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4462272"/>
            <a:ext cx="186537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اجرای بدون GPU — Vosk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۹ از ۲۴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نتایج ASR — FLEURS fa_ir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0" y="868680"/>
            <a:ext cx="1143000" cy="256032"/>
          </a:xfrm>
          <a:prstGeom prst="roundRect">
            <a:avLst/>
          </a:prstGeom>
          <a:solidFill>
            <a:srgbClr val="DC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9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کمتر بهتر است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051560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Vosk fa-0.42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3099" y="1078992"/>
            <a:ext cx="1614860" cy="256032"/>
          </a:xfrm>
          <a:prstGeom prst="roundRect">
            <a:avLst/>
          </a:prstGeom>
          <a:solidFill>
            <a:srgbClr val="237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4731" y="1042415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۱۶.۷۵٪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82495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Wav2Vec2 XLSR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8093" y="1709928"/>
            <a:ext cx="2849866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9725" y="1673351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۲۹.۵۶٪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13432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NeMo — CTC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2667" y="2340864"/>
            <a:ext cx="2865292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4299" y="2304288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۲۹.۷۲٪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44368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Whisper large-v3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340" y="2971800"/>
            <a:ext cx="3017619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1972" y="2935224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۳۱.۳۰٪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75304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NeMo — Transducer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1497" y="3602736"/>
            <a:ext cx="4176462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3129" y="3566160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۴۳.۳۲٪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187952"/>
            <a:ext cx="6949440" cy="384048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رتبه مدل‌ها با تغییر دامنه جابه‌جا شد؛ بهترین نتیجه این مجموعه متعلق به Vosk است.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۱۰ از ۲۴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چرا Vosk در سامانه نهایی انتخاب شد؟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143000"/>
            <a:ext cx="3337560" cy="201168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64608" y="1234440"/>
            <a:ext cx="311810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NeMo FastConformer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1618488"/>
            <a:ext cx="3118104" cy="14447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CV25 WER: ۱۲.۳۳٪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FLEURS Transducer WER: ۴۳.۳۲٪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نیازمند GPU در ارزیابی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143000"/>
            <a:ext cx="3337560" cy="201168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234440"/>
            <a:ext cx="311810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Vosk fa-0.42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18488"/>
            <a:ext cx="3118104" cy="14447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CV25 WER: ۲۲.۳۴٪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FLEURS WER: ۱۶.۷۵٪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CPU + confidence + N-best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93008"/>
            <a:ext cx="5486400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20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انتخاب عملیاتی ≠ کمترین WER در یک مجموعه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023360"/>
            <a:ext cx="6766560" cy="411480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Vosk حافظه GPU را برای Gemma آزاد می‌کند و شواهد لازم برای رفع ابهام را ارائه می‌دهد.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۱۱ از ۲۴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ارزیابی مدل‌های زبانی فارسی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0" y="960120"/>
            <a:ext cx="3383280" cy="32918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دقت کل ParsiNLU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79" y="1252728"/>
            <a:ext cx="1143000" cy="256032"/>
          </a:xfrm>
          <a:prstGeom prst="roundRect">
            <a:avLst/>
          </a:prstGeom>
          <a:solidFill>
            <a:srgbClr val="DC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9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بیشتر بهتر است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35607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Gemma 2 9B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6650" y="1463039"/>
            <a:ext cx="728429" cy="256032"/>
          </a:xfrm>
          <a:prstGeom prst="roundRect">
            <a:avLst/>
          </a:prstGeom>
          <a:solidFill>
            <a:srgbClr val="237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8282" y="1426463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۴۶.۸۶٪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Qwen2.5 7B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27380" y="1965960"/>
            <a:ext cx="627699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9012" y="1929384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۴۰.۳۸٪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Dorna2 8B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80699" y="2468880"/>
            <a:ext cx="574380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2331" y="2432304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۳۶.۹۵٪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44368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Qwen2.5 3B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6197" y="2971800"/>
            <a:ext cx="458882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7829" y="2935224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۲۹.۵۲٪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47288"/>
            <a:ext cx="1664208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Gemma 2 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55423" y="3474720"/>
            <a:ext cx="399656" cy="256032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7055" y="3438144"/>
            <a:ext cx="621792" cy="3108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۲۵.۷۱٪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960120"/>
            <a:ext cx="3291840" cy="32918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درک مطلب فارسی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1481328"/>
            <a:ext cx="24688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1554480"/>
            <a:ext cx="232257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۲۵.۱۷٪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1993392"/>
            <a:ext cx="232257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تطابق دقیق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2606040"/>
            <a:ext cx="24688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3312" y="2679192"/>
            <a:ext cx="232257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۰.۵۸۱۱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118104"/>
            <a:ext cx="232257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F1 توکنی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3730752"/>
            <a:ext cx="24688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3312" y="3803904"/>
            <a:ext cx="232257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۰.۷۸۳۹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242816"/>
            <a:ext cx="232257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شباهت معنایی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114800"/>
            <a:ext cx="3749039" cy="347472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4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Gemma 2 9B در هر دو وظیفه بهترین نتیجه کلی را داشت.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۱۲ از ۲۴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روش ارزیابی تبدیل متن به گفتار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544" y="969264"/>
            <a:ext cx="7479792" cy="3639312"/>
          </a:xfrm>
          <a:prstGeom prst="roundRect">
            <a:avLst/>
          </a:prstGeom>
          <a:solidFill>
            <a:srgbClr val="FFFFFF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ts_evalu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22426"/>
            <a:ext cx="7406640" cy="33329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۱۳ از ۲۴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نتایج TTS و انتخاب Piper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987552"/>
            <a:ext cx="192024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45352" y="1060704"/>
            <a:ext cx="177393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۴.۵۳۴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499616"/>
            <a:ext cx="177393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NISQA 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1755648"/>
            <a:ext cx="1773936" cy="1645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750" b="0" lang="fa-IR">
                <a:solidFill>
                  <a:srgbClr val="4B5B5E"/>
                </a:solidFill>
                <a:latin typeface="Vazirmatn"/>
                <a:cs typeface="Vazirmatn"/>
              </a:rPr>
              <a:t>بیشتر بهتر است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987552"/>
            <a:ext cx="192024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1060704"/>
            <a:ext cx="177393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۱۰.۷٪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1499616"/>
            <a:ext cx="177393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WER بازشناسی مجدد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755648"/>
            <a:ext cx="1773936" cy="1645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750" b="0" lang="fa-IR">
                <a:solidFill>
                  <a:srgbClr val="4B5B5E"/>
                </a:solidFill>
                <a:latin typeface="Vazirmatn"/>
                <a:cs typeface="Vazirmatn"/>
              </a:rPr>
              <a:t>کمتر بهتر است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987552"/>
            <a:ext cx="192024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1060704"/>
            <a:ext cx="1773936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۵.۲۰×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499616"/>
            <a:ext cx="1773936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سریع‌تر از زمان واقعی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97280" y="2267712"/>
          <a:ext cx="6995156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1259128"/>
                <a:gridCol w="1259128"/>
                <a:gridCol w="1259128"/>
                <a:gridCol w="1259128"/>
              </a:tblGrid>
              <a:tr h="393192"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مدل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10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MOS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10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WER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10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CER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1" lang="fa-IR">
                          <a:solidFill>
                            <a:srgbClr val="FFFFFF"/>
                          </a:solidFill>
                          <a:latin typeface="Vazirmatn ExtraBold"/>
                          <a:cs typeface="Vazirmatn ExtraBold"/>
                        </a:rPr>
                        <a:t>RTF تجمیعی</a:t>
                      </a:r>
                    </a:p>
                  </a:txBody>
                  <a:tcPr marL="36576" marR="36576" marT="27432" marB="27432" anchor="ctr">
                    <a:solidFill>
                      <a:srgbClr val="05393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Kamtera VITS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۳٫۳۸۰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۱۴٫۴٪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۶٫۸٪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۰٫۰۴۳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MMS VITS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۳٫۹۱۳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۲۵٫۳٪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۱۱٫۴٪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۰٫۰۲۶</a:t>
                      </a:r>
                    </a:p>
                  </a:txBody>
                  <a:tcPr marL="36576" marR="36576" marT="27432" marB="27432" anchor="ctr">
                    <a:solidFill>
                      <a:srgbClr val="DCEBE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Piper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۴٫۵۳۴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۱۰٫۷٪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۴٫۵٪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sz="1100" b="0" lang="fa-IR">
                          <a:solidFill>
                            <a:srgbClr val="142326"/>
                          </a:solidFill>
                          <a:latin typeface="Vazirmatn"/>
                          <a:cs typeface="Vazirmatn"/>
                        </a:rPr>
                        <a:t>۰٫۱۹۲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234440" y="4133087"/>
            <a:ext cx="6720840" cy="384048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4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Piper سریع‌ترین مدل نیست، اما بهترین کیفیت ادراکی و بیشترین حفظ محتوای زبانی را دارد.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۱۴ از ۲۴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روش ارزیابی انتشار خطا از تشخیص گفتار به مدل زبانی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1394" y="1078992"/>
            <a:ext cx="1693926" cy="658368"/>
          </a:xfrm>
          <a:prstGeom prst="roundRect">
            <a:avLst/>
          </a:prstGeom>
          <a:solidFill>
            <a:srgbClr val="DEEAF2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صوت FLEURS</a:t>
            </a:r>
          </a:p>
        </p:txBody>
      </p:sp>
      <p:sp>
        <p:nvSpPr>
          <p:cNvPr id="6" name="Chevron 5"/>
          <p:cNvSpPr/>
          <p:nvPr/>
        </p:nvSpPr>
        <p:spPr>
          <a:xfrm rot="10800000">
            <a:off x="6435090" y="1309420"/>
            <a:ext cx="137160" cy="197510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2876" y="1078992"/>
            <a:ext cx="1693926" cy="658368"/>
          </a:xfrm>
          <a:prstGeom prst="roundRect">
            <a:avLst/>
          </a:prstGeom>
          <a:solidFill>
            <a:srgbClr val="E9E4F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رونویسی NeMo / Vosk</a:t>
            </a:r>
          </a:p>
        </p:txBody>
      </p:sp>
      <p:sp>
        <p:nvSpPr>
          <p:cNvPr id="8" name="Chevron 7"/>
          <p:cNvSpPr/>
          <p:nvPr/>
        </p:nvSpPr>
        <p:spPr>
          <a:xfrm rot="10800000">
            <a:off x="4576572" y="1309420"/>
            <a:ext cx="137160" cy="197510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64358" y="1078992"/>
            <a:ext cx="1693926" cy="658368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Gemma 2 9B ثابت</a:t>
            </a:r>
          </a:p>
        </p:txBody>
      </p:sp>
      <p:sp>
        <p:nvSpPr>
          <p:cNvPr id="10" name="Chevron 9"/>
          <p:cNvSpPr/>
          <p:nvPr/>
        </p:nvSpPr>
        <p:spPr>
          <a:xfrm rot="10800000">
            <a:off x="2718054" y="1309420"/>
            <a:ext cx="137160" cy="197510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078992"/>
            <a:ext cx="1693926" cy="658368"/>
          </a:xfrm>
          <a:prstGeom prst="roundRect">
            <a:avLst/>
          </a:prstGeom>
          <a:solidFill>
            <a:srgbClr val="F7E8BB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مقایسه با پاسخ طلایی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057400"/>
            <a:ext cx="2926080" cy="132588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2148840"/>
            <a:ext cx="270662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مسیر مرجع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532888"/>
            <a:ext cx="2706624" cy="7589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متن مرجع → Gemma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تنها نمونه‌های با پاسخ دقیق نگه داشته می‌شوند.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2057400"/>
            <a:ext cx="2926080" cy="132588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2148840"/>
            <a:ext cx="270662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مسیر خطادار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532888"/>
            <a:ext cx="2706624" cy="7589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رونویسی ASR → همان پرسش، دستور و مدل زبانی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3767328"/>
            <a:ext cx="4663440" cy="457200"/>
          </a:xfrm>
          <a:prstGeom prst="roundRect">
            <a:avLst/>
          </a:prstGeom>
          <a:solidFill>
            <a:srgbClr val="F7E8BB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8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گروه اصلی: ۴۷۰ ضبط از ۱۷۴ شناسه معنایی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297680"/>
            <a:ext cx="4480560" cy="2560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2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متغیر اصلی فقط متن تولیدشده توسط ASR است.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۱۵ از ۲۴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اثر ASR بر پاسخ مدل زبانی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00600" y="1143000"/>
            <a:ext cx="3200400" cy="196596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B0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10328" y="1234440"/>
            <a:ext cx="29809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B04545"/>
                </a:solidFill>
                <a:latin typeface="Vazirmatn ExtraBold"/>
                <a:cs typeface="Vazirmatn ExtraBold"/>
              </a:rPr>
              <a:t>NeMo — Transducer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0328" y="1618488"/>
            <a:ext cx="2980944" cy="139903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lang="fa-IR">
                <a:solidFill>
                  <a:srgbClr val="142326"/>
                </a:solidFill>
                <a:latin typeface="Vazirmatn"/>
                <a:cs typeface="Vazirmatn"/>
              </a:rPr>
              <a:t>WER: ۴۳.۳۲٪</a:t>
            </a:r>
          </a:p>
          <a:p>
            <a:pPr algn="r" rtl="1">
              <a:spcAft>
                <a:spcPts val="0"/>
              </a:spcAft>
            </a:pPr>
            <a:r>
              <a:rPr sz="1600" b="0" lang="fa-IR">
                <a:solidFill>
                  <a:srgbClr val="142326"/>
                </a:solidFill>
                <a:latin typeface="Vazirmatn"/>
                <a:cs typeface="Vazirmatn"/>
              </a:rPr>
              <a:t>حفظ پاسخ صحیح: ۱۴.۶۸٪</a:t>
            </a:r>
          </a:p>
          <a:p>
            <a:pPr algn="r" rtl="1">
              <a:spcAft>
                <a:spcPts val="0"/>
              </a:spcAft>
            </a:pPr>
            <a:r>
              <a:rPr sz="1600" b="0" lang="fa-IR">
                <a:solidFill>
                  <a:srgbClr val="142326"/>
                </a:solidFill>
                <a:latin typeface="Vazirmatn"/>
                <a:cs typeface="Vazirmatn"/>
              </a:rPr>
              <a:t>شکست انتشار: ۸۵.۳۲٪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143000"/>
            <a:ext cx="3200400" cy="196596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234440"/>
            <a:ext cx="29809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8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Vosk fa-0.42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618488"/>
            <a:ext cx="2980944" cy="139903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lang="fa-IR">
                <a:solidFill>
                  <a:srgbClr val="142326"/>
                </a:solidFill>
                <a:latin typeface="Vazirmatn"/>
                <a:cs typeface="Vazirmatn"/>
              </a:rPr>
              <a:t>WER: ۱۶.۷۵٪</a:t>
            </a:r>
          </a:p>
          <a:p>
            <a:pPr algn="r" rtl="1">
              <a:spcAft>
                <a:spcPts val="0"/>
              </a:spcAft>
            </a:pPr>
            <a:r>
              <a:rPr sz="1600" b="0" lang="fa-IR">
                <a:solidFill>
                  <a:srgbClr val="142326"/>
                </a:solidFill>
                <a:latin typeface="Vazirmatn"/>
                <a:cs typeface="Vazirmatn"/>
              </a:rPr>
              <a:t>حفظ پاسخ صحیح: ۶۲.۹۸٪</a:t>
            </a:r>
          </a:p>
          <a:p>
            <a:pPr algn="r" rtl="1">
              <a:spcAft>
                <a:spcPts val="0"/>
              </a:spcAft>
            </a:pPr>
            <a:r>
              <a:rPr sz="1600" b="0" lang="fa-IR">
                <a:solidFill>
                  <a:srgbClr val="142326"/>
                </a:solidFill>
                <a:latin typeface="Vazirmatn"/>
                <a:cs typeface="Vazirmatn"/>
              </a:rPr>
              <a:t>شکست انتشار: ۳۷.۰۲٪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42900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27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۱۴.۶۸٪  →  ۶۲.۹۸٪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005072"/>
            <a:ext cx="512064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4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افزایش حفظ پاسخ صحیح با جایگزینی مسیر ASR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۱۶ از ۲۴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خطای مرتبط با وظیفه مهم‌تر از WER کلی است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932688"/>
            <a:ext cx="5029200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7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AUC پیش‌بینی شکست پایین‌دستی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481328"/>
            <a:ext cx="914400" cy="320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4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NeMo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81328"/>
            <a:ext cx="3878016" cy="274320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274320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1">
              <a:spcAft>
                <a:spcPts val="0"/>
              </a:spcAft>
            </a:pPr>
            <a:r>
              <a:rPr sz="10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WER  ۰.۷۷۱۱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874520"/>
            <a:ext cx="4497613" cy="274320"/>
          </a:xfrm>
          <a:prstGeom prst="roundRect">
            <a:avLst/>
          </a:prstGeom>
          <a:solidFill>
            <a:srgbClr val="237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874520"/>
            <a:ext cx="274320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1">
              <a:spcAft>
                <a:spcPts val="0"/>
              </a:spcAft>
            </a:pPr>
            <a:r>
              <a:rPr sz="10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حذف عبارت پاسخ  ۰.۸۹۴۳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624328"/>
            <a:ext cx="914400" cy="320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4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Vosk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624328"/>
            <a:ext cx="3832250" cy="274320"/>
          </a:xfrm>
          <a:prstGeom prst="roundRect">
            <a:avLst/>
          </a:prstGeom>
          <a:solidFill>
            <a:srgbClr val="A7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624328"/>
            <a:ext cx="274320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1">
              <a:spcAft>
                <a:spcPts val="0"/>
              </a:spcAft>
            </a:pPr>
            <a:r>
              <a:rPr sz="10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WER  ۰.۷۶۲۰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017520"/>
            <a:ext cx="4738512" cy="274320"/>
          </a:xfrm>
          <a:prstGeom prst="roundRect">
            <a:avLst/>
          </a:prstGeom>
          <a:solidFill>
            <a:srgbClr val="237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017520"/>
            <a:ext cx="274320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 rtl="1">
              <a:spcAft>
                <a:spcPts val="0"/>
              </a:spcAft>
            </a:pPr>
            <a:r>
              <a:rPr sz="10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حذف عبارت پاسخ  ۰.۹۴۲۲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977639"/>
            <a:ext cx="6858000" cy="502920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حذف نام، عدد، نفی یا عبارت پاسخ، خطر واقعی را بهتر از میانگین خطای واژه نشان می‌دهد.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۱۷ از ۲۴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تقویت انتخابی صوت‌های کم‌دامنه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960120"/>
            <a:ext cx="6492240" cy="38404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فقط ۲۰۶ ضبط کم‌دامنه تقویت شدند؛ سایر نمونه‌ها بدون تغییر باقی ماندند.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00200"/>
            <a:ext cx="20574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08192" y="1673352"/>
            <a:ext cx="1911095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−۰.۲۶۸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2112264"/>
            <a:ext cx="1911095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واحد درصد WER پیکره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00200"/>
            <a:ext cx="20574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73352"/>
            <a:ext cx="1911095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+۰.۰۰۸۸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112264"/>
            <a:ext cx="1911095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میانگین F1 پاسخ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00200"/>
            <a:ext cx="20574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1673352"/>
            <a:ext cx="1911095" cy="43891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4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۹۹.۹٪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112264"/>
            <a:ext cx="1911095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142326"/>
                </a:solidFill>
                <a:latin typeface="Vazirmatn ExtraBold"/>
                <a:cs typeface="Vazirmatn ExtraBold"/>
              </a:rPr>
              <a:t>احتمال بوت‌استرپ بهبود 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017520"/>
            <a:ext cx="6675120" cy="1143000"/>
          </a:xfrm>
          <a:prstGeom prst="roundRect">
            <a:avLst/>
          </a:prstGeom>
          <a:solidFill>
            <a:srgbClr val="F7E8BB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108960"/>
            <a:ext cx="645566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تفسیر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493008"/>
            <a:ext cx="6455664" cy="576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اثر کوچک است، اما جهت بهبود WER و F1 قابل اتکاتر از تغییر تطابق دقیق بود؛ بنابراین پیش‌پردازش محافظه‌کارانه حفظ شد.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۱۸ از ۲۴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N-best: ظرفیت واقعی، انتخاب کور زیان‌بار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0" y="1143000"/>
            <a:ext cx="2514600" cy="178308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4728" y="1234440"/>
            <a:ext cx="22951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اوراکل N-best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4728" y="1618488"/>
            <a:ext cx="2295144" cy="12161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WER نگه‌داشته‌شده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۱۲.۲۹٪ → ۱۱.۰۰٪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۱۶ عبارت پاسخ قابل بازیابی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143000"/>
            <a:ext cx="2148840" cy="1783080"/>
          </a:xfrm>
          <a:prstGeom prst="roundRect">
            <a:avLst/>
          </a:prstGeom>
          <a:solidFill>
            <a:srgbClr val="E9E4F6"/>
          </a:solidFill>
          <a:ln w="15240">
            <a:solidFill>
              <a:srgbClr val="B0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234440"/>
            <a:ext cx="192938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B04545"/>
                </a:solidFill>
                <a:latin typeface="Vazirmatn ExtraBold"/>
                <a:cs typeface="Vazirmatn ExtraBold"/>
              </a:rPr>
              <a:t>بیشترین امتیاز رمزگشا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618488"/>
            <a:ext cx="1929384" cy="12161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WER نگه‌داشته‌شده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۱۲.۲۹٪ → ۱۴.۰۴٪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انتخاب خام نتیجه را بدتر کرد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143000"/>
            <a:ext cx="2194560" cy="1783080"/>
          </a:xfrm>
          <a:prstGeom prst="roundRect">
            <a:avLst/>
          </a:prstGeom>
          <a:solidFill>
            <a:srgbClr val="F7E8BB"/>
          </a:solidFill>
          <a:ln w="1524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1234440"/>
            <a:ext cx="197510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اصلاح صریح کاربر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1618488"/>
            <a:ext cx="1975104" cy="12161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نرخ بازیابی هدف: ۸۱.۴۸٪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افزایش EM نگه‌داشته‌شده: ۱.۵۹ واحد درصد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انتخاب نادرست: صفر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364992"/>
            <a:ext cx="6675120" cy="475488"/>
          </a:xfrm>
          <a:prstGeom prst="round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7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سیاست نهایی فقط با شاهد زمینه‌ای و اصلاح صریح کاربر فرضیه را تغییر می‌دهد.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50791"/>
            <a:ext cx="585216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نتیجه: N-best منبع شواهد است، نه مجوز تصحیح خودکار.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۱۹ از ۲۴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کنترل ابهام، حافظه و جریان‌سازی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39968" y="1051560"/>
            <a:ext cx="2161032" cy="640080"/>
          </a:xfrm>
          <a:prstGeom prst="roundRect">
            <a:avLst/>
          </a:prstGeom>
          <a:solidFill>
            <a:srgbClr val="E9E4F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خروجی ASR</a:t>
            </a:r>
          </a:p>
        </p:txBody>
      </p:sp>
      <p:sp>
        <p:nvSpPr>
          <p:cNvPr id="6" name="Chevron 5"/>
          <p:cNvSpPr/>
          <p:nvPr/>
        </p:nvSpPr>
        <p:spPr>
          <a:xfrm rot="10800000">
            <a:off x="5693664" y="1275587"/>
            <a:ext cx="137160" cy="192024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14344" y="1051560"/>
            <a:ext cx="2161032" cy="640080"/>
          </a:xfrm>
          <a:prstGeom prst="roundRect">
            <a:avLst/>
          </a:prstGeom>
          <a:solidFill>
            <a:srgbClr val="F7E8BB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ارزیابی ریسک</a:t>
            </a:r>
          </a:p>
        </p:txBody>
      </p:sp>
      <p:sp>
        <p:nvSpPr>
          <p:cNvPr id="8" name="Chevron 7"/>
          <p:cNvSpPr/>
          <p:nvPr/>
        </p:nvSpPr>
        <p:spPr>
          <a:xfrm rot="10800000">
            <a:off x="3368040" y="1275587"/>
            <a:ext cx="137160" cy="192024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1051560"/>
            <a:ext cx="2161032" cy="640080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پاسخ / رفع ابهام / تکرار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011680"/>
            <a:ext cx="3200400" cy="1371600"/>
          </a:xfrm>
          <a:prstGeom prst="roundRect">
            <a:avLst/>
          </a:prstGeom>
          <a:solidFill>
            <a:srgbClr val="F7E8BB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103120"/>
            <a:ext cx="29809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نمونه رفع ابهام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487168"/>
            <a:ext cx="2980944" cy="8046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«منظورتان شریعت یا شریف است؟»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اختلاف نام، عدد و نفی حتی با اطمینان بالا بررسی می‌شود.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11680"/>
            <a:ext cx="3200400" cy="137160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2103120"/>
            <a:ext cx="29809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دو نوع حافظه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487168"/>
            <a:ext cx="2980944" cy="8046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تاریخچه شش‌نوبتی برای LLM</a:t>
            </a:r>
          </a:p>
          <a:p>
            <a:pPr algn="r" rtl="1">
              <a:spcAft>
                <a:spcPts val="0"/>
              </a:spcAft>
            </a:pPr>
            <a:r>
              <a:rPr sz="1300" b="0" lang="fa-IR">
                <a:solidFill>
                  <a:srgbClr val="142326"/>
                </a:solidFill>
                <a:latin typeface="Vazirmatn"/>
                <a:cs typeface="Vazirmatn"/>
              </a:rPr>
              <a:t>حافظه ۱۲ اصلاح تأییدشده و محدود به زمینه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730752"/>
            <a:ext cx="1453896" cy="566928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تولید توکن</a:t>
            </a:r>
          </a:p>
        </p:txBody>
      </p:sp>
      <p:sp>
        <p:nvSpPr>
          <p:cNvPr id="17" name="Chevron 16"/>
          <p:cNvSpPr/>
          <p:nvPr/>
        </p:nvSpPr>
        <p:spPr>
          <a:xfrm rot="10800000">
            <a:off x="6126480" y="3929176"/>
            <a:ext cx="137160" cy="170078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54296" y="3730752"/>
            <a:ext cx="1453896" cy="566928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بافر عبارت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4507992" y="3929176"/>
            <a:ext cx="137160" cy="170078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35808" y="3730752"/>
            <a:ext cx="1453896" cy="566928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Piper</a:t>
            </a:r>
          </a:p>
        </p:txBody>
      </p:sp>
      <p:sp>
        <p:nvSpPr>
          <p:cNvPr id="21" name="Chevron 20"/>
          <p:cNvSpPr/>
          <p:nvPr/>
        </p:nvSpPr>
        <p:spPr>
          <a:xfrm rot="10800000">
            <a:off x="2889504" y="3929176"/>
            <a:ext cx="137160" cy="170078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17320" y="3730752"/>
            <a:ext cx="1453896" cy="566928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پخش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343400"/>
            <a:ext cx="5394960" cy="2286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100" b="1" lang="fa-IR">
                <a:solidFill>
                  <a:srgbClr val="4B5B5E"/>
                </a:solidFill>
                <a:latin typeface="Vazirmatn ExtraBold"/>
                <a:cs typeface="Vazirmatn ExtraBold"/>
              </a:rPr>
              <a:t>هم‌پوشانی تولید متن، صوت و پخش برای کاهش تأخیر ادراکی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۲۰ از ۲۴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پروفایل منابع و تأخیر سامانه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923544"/>
            <a:ext cx="7525512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chatbot_resourc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25" y="960120"/>
            <a:ext cx="6881108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4270248"/>
            <a:ext cx="530352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RTX 4070 Laptop — 8 GiB VRAM  |  اجرای سرد دو نوبت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۲۱ از ۲۴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ترکیب نهایی سامانه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9964" y="1097280"/>
            <a:ext cx="1751075" cy="749808"/>
          </a:xfrm>
          <a:prstGeom prst="roundRect">
            <a:avLst/>
          </a:prstGeom>
          <a:solidFill>
            <a:srgbClr val="DEEAF2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Silero VAD</a:t>
            </a:r>
          </a:p>
        </p:txBody>
      </p:sp>
      <p:sp>
        <p:nvSpPr>
          <p:cNvPr id="6" name="Chevron 5"/>
          <p:cNvSpPr/>
          <p:nvPr/>
        </p:nvSpPr>
        <p:spPr>
          <a:xfrm rot="10800000">
            <a:off x="6423659" y="1359712"/>
            <a:ext cx="137160" cy="224942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54296" y="1097280"/>
            <a:ext cx="1751075" cy="749808"/>
          </a:xfrm>
          <a:prstGeom prst="roundRect">
            <a:avLst/>
          </a:prstGeom>
          <a:solidFill>
            <a:srgbClr val="E9E4F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Vosk fa-0.42</a:t>
            </a:r>
          </a:p>
        </p:txBody>
      </p:sp>
      <p:sp>
        <p:nvSpPr>
          <p:cNvPr id="8" name="Chevron 7"/>
          <p:cNvSpPr/>
          <p:nvPr/>
        </p:nvSpPr>
        <p:spPr>
          <a:xfrm rot="10800000">
            <a:off x="4507992" y="1359712"/>
            <a:ext cx="137160" cy="224942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38627" y="1097280"/>
            <a:ext cx="1751075" cy="749808"/>
          </a:xfrm>
          <a:prstGeom prst="roundRect">
            <a:avLst/>
          </a:prstGeom>
          <a:solidFill>
            <a:srgbClr val="DCEBE6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Gemma 2 9B — 4 bit</a:t>
            </a:r>
          </a:p>
        </p:txBody>
      </p:sp>
      <p:sp>
        <p:nvSpPr>
          <p:cNvPr id="10" name="Chevron 9"/>
          <p:cNvSpPr/>
          <p:nvPr/>
        </p:nvSpPr>
        <p:spPr>
          <a:xfrm rot="10800000">
            <a:off x="2592323" y="1359712"/>
            <a:ext cx="137160" cy="224942"/>
          </a:xfrm>
          <a:prstGeom prst="chevron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097280"/>
            <a:ext cx="1751075" cy="749808"/>
          </a:xfrm>
          <a:prstGeom prst="roundRect">
            <a:avLst/>
          </a:prstGeom>
          <a:solidFill>
            <a:srgbClr val="F7E8BB"/>
          </a:solidFill>
          <a:ln>
            <a:solidFill>
              <a:srgbClr val="05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Piper fa_IR-gyro-medium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76272"/>
            <a:ext cx="67208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 Vosk: اجرای CPU، دقت بهتر روی FLEURS و ارائه confidence و N-best</a:t>
            </a:r>
          </a:p>
          <a:p>
            <a:pPr algn="r" rtl="1">
              <a:spcAft>
                <a:spcPts val="70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 Gemma 2 9B: رتبه نخست در دو وظیفه کنترل‌شده فارسی</a:t>
            </a:r>
          </a:p>
          <a:p>
            <a:pPr algn="r" rtl="1">
              <a:spcAft>
                <a:spcPts val="70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 Piper: بهترین کیفیت ادراکی و کمترین WER/CER بازشناسی مجدد</a:t>
            </a:r>
          </a:p>
          <a:p>
            <a:pPr algn="r" rtl="1">
              <a:spcAft>
                <a:spcPts val="70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 کنترل ریسک و جریان‌سازی: اتصال میان مدل‌های مستقل و تجربه مکالمه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4178808"/>
            <a:ext cx="4663440" cy="329184"/>
          </a:xfrm>
          <a:prstGeom prst="roundRect">
            <a:avLst/>
          </a:prstGeom>
          <a:solidFill>
            <a:srgbClr val="DCEBE6"/>
          </a:solidFill>
          <a:ln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13766F"/>
                </a:solidFill>
                <a:latin typeface="Vazirmatn ExtraBold"/>
                <a:cs typeface="Vazirmatn ExtraBold"/>
                <a:hlinkClick r:id="rId2"/>
              </a:rPr>
              <a:t>github.com/Aliakbawr/e2e_system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۲۲ از ۲۴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60920" y="109728"/>
            <a:ext cx="960120" cy="5029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0">
              <a:spcAft>
                <a:spcPts val="0"/>
              </a:spcAft>
            </a:pPr>
            <a:r>
              <a:rPr sz="25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۰۶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91440"/>
            <a:ext cx="5303520" cy="5669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جمع‌بندی و مسیر توسعه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704088"/>
            <a:ext cx="4892040" cy="13716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60" y="1005840"/>
            <a:ext cx="3429000" cy="3200400"/>
          </a:xfrm>
          <a:prstGeom prst="roundRect">
            <a:avLst/>
          </a:prstGeom>
          <a:solidFill>
            <a:srgbClr val="DCEBE6"/>
          </a:solidFill>
          <a:ln w="15240">
            <a:solidFill>
              <a:srgbClr val="237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18888" y="1097280"/>
            <a:ext cx="32095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237F60"/>
                </a:solidFill>
                <a:latin typeface="Vazirmatn ExtraBold"/>
                <a:cs typeface="Vazirmatn ExtraBold"/>
              </a:rPr>
              <a:t>نتیجه‌های اصلی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8888" y="1481328"/>
            <a:ext cx="3209544" cy="2633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رتبه ASR به دامنه وابسته است.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حفظ اطلاعات پاسخ از WER مهم‌تر است.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N-best فقط با شاهد زمینه‌ای ایمن است.</a:t>
            </a:r>
          </a:p>
          <a:p>
            <a:pPr algn="r" rtl="1">
              <a:spcAft>
                <a:spcPts val="0"/>
              </a:spcAft>
            </a:pPr>
            <a:r>
              <a:rPr sz="1500" b="0" lang="fa-IR">
                <a:solidFill>
                  <a:srgbClr val="142326"/>
                </a:solidFill>
                <a:latin typeface="Vazirmatn"/>
                <a:cs typeface="Vazirmatn"/>
              </a:rPr>
              <a:t>• انتخاب نهایی یک مسئله انتهابه‌انتهاست.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005840"/>
            <a:ext cx="3429000" cy="3200400"/>
          </a:xfrm>
          <a:prstGeom prst="roundRect">
            <a:avLst/>
          </a:prstGeom>
          <a:solidFill>
            <a:srgbClr val="DEEAF2"/>
          </a:solidFill>
          <a:ln w="15240">
            <a:solidFill>
              <a:srgbClr val="13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097280"/>
            <a:ext cx="3209544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پیشنهادهای آینده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81328"/>
            <a:ext cx="3209544" cy="2633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• ارزیابی انسانی پاسخ و طبیعی‌بودن صوت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• ساخت مجموعه TTS فارسی و آزمون شنیداری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• ارزیابی گسترده سامانه روی مکالمه طبیعی</a:t>
            </a:r>
          </a:p>
          <a:p>
            <a:pPr algn="r" rtl="1">
              <a:spcAft>
                <a:spcPts val="0"/>
              </a:spcAft>
            </a:pPr>
            <a:r>
              <a:rPr sz="1400" b="0" lang="fa-IR">
                <a:solidFill>
                  <a:srgbClr val="142326"/>
                </a:solidFill>
                <a:latin typeface="Vazirmatn"/>
                <a:cs typeface="Vazirmatn"/>
              </a:rPr>
              <a:t>• کالیبراسیون رفع ابهام و خلاصه‌سازی تاریخچه بلند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۲۳ از ۲۴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65960" y="868680"/>
            <a:ext cx="521208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25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با تشکر از توجه شما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0"/>
            <a:ext cx="4526280" cy="8229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3100" b="1" lang="fa-IR">
                <a:solidFill>
                  <a:srgbClr val="05393E"/>
                </a:solidFill>
                <a:latin typeface="Vazirmatn ExtraBold"/>
                <a:cs typeface="Vazirmatn ExtraBold"/>
              </a:rPr>
              <a:t>پاسخ به پرسش‌ها</a:t>
            </a:r>
          </a:p>
        </p:txBody>
      </p:sp>
      <p:sp>
        <p:nvSpPr>
          <p:cNvPr id="4" name="Rectangle 3"/>
          <p:cNvSpPr/>
          <p:nvPr/>
        </p:nvSpPr>
        <p:spPr>
          <a:xfrm>
            <a:off x="6748272" y="1755648"/>
            <a:ext cx="960120" cy="960120"/>
          </a:xfrm>
          <a:prstGeom prst="rect">
            <a:avLst/>
          </a:prstGeom>
          <a:solidFill>
            <a:srgbClr val="05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 rtl="1">
              <a:spcAft>
                <a:spcPts val="0"/>
              </a:spcAft>
            </a:pPr>
            <a:r>
              <a:rPr sz="3800" b="1" lang="fa-IR">
                <a:solidFill>
                  <a:srgbClr val="FFFFFF"/>
                </a:solidFill>
                <a:latin typeface="Vazirmatn ExtraBold"/>
                <a:cs typeface="Vazirmatn ExtraBold"/>
              </a:rPr>
              <a:t>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3035808"/>
            <a:ext cx="4480560" cy="365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300" b="1" lang="fa-IR">
                <a:solidFill>
                  <a:srgbClr val="13766F"/>
                </a:solidFill>
                <a:latin typeface="Vazirmatn ExtraBold"/>
                <a:cs typeface="Vazirmatn ExtraBold"/>
              </a:rPr>
              <a:t>github.com/Aliakbawr/e2e_system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5592" y="4800600"/>
            <a:ext cx="896112" cy="2377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950" b="1" lang="fa-IR">
                <a:solidFill>
                  <a:srgbClr val="F3F0EB"/>
                </a:solidFill>
                <a:latin typeface="Vazirmatn ExtraBold"/>
                <a:cs typeface="Vazirmatn ExtraBold"/>
              </a:rPr>
              <a:t>۲۴ از ۲۴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istentialism Thesis Defense by Slidesgo">
  <a:themeElements>
    <a:clrScheme name="Simple Light">
      <a:dk1>
        <a:srgbClr val="0C343D"/>
      </a:dk1>
      <a:lt1>
        <a:srgbClr val="EDE9E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3081</TotalTime>
  <Words>1120</Words>
  <Application>Microsoft Office PowerPoint</Application>
  <PresentationFormat>On-screen Show (16:9)</PresentationFormat>
  <Paragraphs>198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ADLaM Display</vt:lpstr>
      <vt:lpstr>Calibri</vt:lpstr>
      <vt:lpstr>Arial</vt:lpstr>
      <vt:lpstr>Vazirmatn ExtraBold</vt:lpstr>
      <vt:lpstr>Cambria Math</vt:lpstr>
      <vt:lpstr>Martel Sans</vt:lpstr>
      <vt:lpstr>B Mitra</vt:lpstr>
      <vt:lpstr>Bebas Neue</vt:lpstr>
      <vt:lpstr>PT Sans</vt:lpstr>
      <vt:lpstr>Consolas</vt:lpstr>
      <vt:lpstr>Existentialism Thesis Defense by Slidesgo</vt:lpstr>
      <vt:lpstr>سمینار دفاع از پروژه کارشناسی  ﺗﻮﻟﻴﺪ ﻣﺠﻤﻮﻋﻪ ﺩﺍﺩﻩ تصادفی ﻳﻜﻨﻮﺍﺧﺖ ﺑﺮﺍی ﺩﺭﺧﺘﺎﻥ ﺗﺮﺟﻴﺢ لکزیکوگرافیک ﺟﺰئی ﻭ ﻛﺎﻣﻞ ﺑﺎ ﺍﺭﺍﺋﻪ الگوریتم ﻭ ﺍﺑﺰﺍﺭ ﺣﺎﻓﻈﻪ-ﺑﻬﻴﻨﻪ   ارائه‌دهنده: مهرآذین مرزوق استاد راهنما: دکتر نصیری مفخم داور: دکتر باطنی بهمن ۱۴۰۴</vt:lpstr>
      <vt:lpstr>سرفصل مطالب</vt:lpstr>
      <vt:lpstr>مقدمه</vt:lpstr>
      <vt:lpstr>مفاهیم</vt:lpstr>
      <vt:lpstr>مفاهیم – درخت ترجیح جزئی لکزیکوگرافیک</vt:lpstr>
      <vt:lpstr>مفاهیم – سوگیری در تولید ساده‌انگارانه ۱</vt:lpstr>
      <vt:lpstr>مفاهیم – سوگیری در تولید ساده‌انگارانه ۲</vt:lpstr>
      <vt:lpstr>مفاهیم – بازنمایی فشرده</vt:lpstr>
      <vt:lpstr>شرح پروژه</vt:lpstr>
      <vt:lpstr>شرح پروژه – تعمیم به ویژگی‌های چندمقدار</vt:lpstr>
      <vt:lpstr>شرح پروژه – تولید یکنواخت بر اساس شکل درخت</vt:lpstr>
      <vt:lpstr>شرح پروژه – تولید یکنواخت بر اساس شکل درخت برچسب‌گذاری ویژگی‌ها و ترجیحات محلی</vt:lpstr>
      <vt:lpstr>شرح پروژه – تولید یکنواخت بر اساس کل درخت</vt:lpstr>
      <vt:lpstr>شرح پروژه – تولید یکنواخت بر اساس کل درخت محاسبه تابع E</vt:lpstr>
      <vt:lpstr>شرح پروژه – تولید یکنواخت بر اساس کل درخت</vt:lpstr>
      <vt:lpstr>شرح پروژه – تولید یکنواخت بر اساس کل درخت  رمزگشایی</vt:lpstr>
      <vt:lpstr>شرح پروژه – معرفی ابزار</vt:lpstr>
      <vt:lpstr>نتایج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جمع‌بندی</vt:lpstr>
      <vt:lpstr>جمع‌بندی - منابع</vt:lpstr>
      <vt:lpstr>پاسخ به سوالات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MehrAzin Mq</cp:lastModifiedBy>
  <cp:revision>13</cp:revision>
  <dcterms:modified xsi:type="dcterms:W3CDTF">2026-02-18T11:27:54Z</dcterms:modified>
</cp:coreProperties>
</file>